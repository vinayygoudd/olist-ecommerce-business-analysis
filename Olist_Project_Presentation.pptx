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Monthly Revenue Trend (R$ thousands)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(R$)</c:v>
                </c:pt>
              </c:strCache>
            </c:strRef>
          </c:tx>
          <c:spPr>
            <a:solidFill>
              <a:srgbClr val="EE9E64"/>
            </a:solidFill>
            <a:ln w="31750" cap="flat">
              <a:solidFill>
                <a:srgbClr val="EE9E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9E64"/>
              </a:solidFill>
              <a:ln w="9525" cap="flat">
                <a:solidFill>
                  <a:srgbClr val="EE9E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Jan'17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Jan'18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112</c:v>
                </c:pt>
                <c:pt idx="1">
                  <c:v>234</c:v>
                </c:pt>
                <c:pt idx="2">
                  <c:v>359</c:v>
                </c:pt>
                <c:pt idx="3">
                  <c:v>341</c:v>
                </c:pt>
                <c:pt idx="4">
                  <c:v>489</c:v>
                </c:pt>
                <c:pt idx="5">
                  <c:v>422</c:v>
                </c:pt>
                <c:pt idx="6">
                  <c:v>482</c:v>
                </c:pt>
                <c:pt idx="7">
                  <c:v>555</c:v>
                </c:pt>
                <c:pt idx="8">
                  <c:v>607</c:v>
                </c:pt>
                <c:pt idx="9">
                  <c:v>648</c:v>
                </c:pt>
                <c:pt idx="10">
                  <c:v>988</c:v>
                </c:pt>
                <c:pt idx="11">
                  <c:v>726</c:v>
                </c:pt>
                <c:pt idx="12">
                  <c:v>925</c:v>
                </c:pt>
                <c:pt idx="13">
                  <c:v>826</c:v>
                </c:pt>
                <c:pt idx="14">
                  <c:v>953</c:v>
                </c:pt>
                <c:pt idx="15">
                  <c:v>974</c:v>
                </c:pt>
                <c:pt idx="16">
                  <c:v>978</c:v>
                </c:pt>
                <c:pt idx="17">
                  <c:v>856</c:v>
                </c:pt>
                <c:pt idx="18">
                  <c:v>868</c:v>
                </c:pt>
                <c:pt idx="19">
                  <c:v>839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Top 5 Categories (R$ 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thousands)</c:v>
                </c:pt>
              </c:strCache>
            </c:strRef>
          </c:tx>
          <c:spPr>
            <a:solidFill>
              <a:srgbClr val="EE9E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9E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C4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9E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C4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E9E6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health_beauty</c:v>
                  </c:pt>
                  <c:pt idx="1">
                    <c:v>watches_gifts</c:v>
                  </c:pt>
                  <c:pt idx="2">
                    <c:v>bed_bath_table</c:v>
                  </c:pt>
                  <c:pt idx="3">
                    <c:v>sports_leisure</c:v>
                  </c:pt>
                  <c:pt idx="4">
                    <c:v>computers_acc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1232</c:v>
                </c:pt>
                <c:pt idx="1">
                  <c:v>1164</c:v>
                </c:pt>
                <c:pt idx="2">
                  <c:v>1022</c:v>
                </c:pt>
                <c:pt idx="3">
                  <c:v>956</c:v>
                </c:pt>
                <c:pt idx="4">
                  <c:v>887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Customer Segments (by count)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E9E64"/>
              </a:solidFill>
              <a:effectLst/>
            </c:spPr>
          </c:dPt>
          <c:dPt>
            <c:idx val="1"/>
            <c:bubble3D val="0"/>
            <c:spPr>
              <a:solidFill>
                <a:srgbClr val="D4722A"/>
              </a:solidFill>
              <a:effectLst/>
            </c:spPr>
          </c:dPt>
          <c:dPt>
            <c:idx val="2"/>
            <c:bubble3D val="0"/>
            <c:spPr>
              <a:solidFill>
                <a:srgbClr val="C0440E"/>
              </a:solidFill>
              <a:effectLst/>
            </c:spPr>
          </c:dPt>
          <c:dPt>
            <c:idx val="3"/>
            <c:bubble3D val="0"/>
            <c:spPr>
              <a:solidFill>
                <a:srgbClr val="1C1C1E"/>
              </a:solidFill>
              <a:effectLst/>
            </c:spPr>
          </c:dPt>
          <c:dPt>
            <c:idx val="4"/>
            <c:bubble3D val="0"/>
            <c:spPr>
              <a:solidFill>
                <a:srgbClr val="6C757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Potential Loyalists</c:v>
                </c:pt>
                <c:pt idx="1">
                  <c:v>Loyal Customers</c:v>
                </c:pt>
                <c:pt idx="2">
                  <c:v>At Risk</c:v>
                </c:pt>
                <c:pt idx="3">
                  <c:v>Champions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38521</c:v>
                </c:pt>
                <c:pt idx="1">
                  <c:v>31260</c:v>
                </c:pt>
                <c:pt idx="2">
                  <c:v>12434</c:v>
                </c:pt>
                <c:pt idx="3">
                  <c:v>7894</c:v>
                </c:pt>
                <c:pt idx="4">
                  <c:v>3249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43A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Revenue by Segment (R$ 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(R$M)</c:v>
                </c:pt>
              </c:strCache>
            </c:strRef>
          </c:tx>
          <c:spPr>
            <a:solidFill>
              <a:srgbClr val="1C1C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1C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9E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72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44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C757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Loyal Customers</c:v>
                  </c:pt>
                  <c:pt idx="1">
                    <c:v>Potential Loyalists</c:v>
                  </c:pt>
                  <c:pt idx="2">
                    <c:v>Champions</c:v>
                  </c:pt>
                  <c:pt idx="3">
                    <c:v>At Risk</c:v>
                  </c:pt>
                  <c:pt idx="4">
                    <c:v>Lost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5.89</c:v>
                </c:pt>
                <c:pt idx="1">
                  <c:v>4.2</c:v>
                </c:pt>
                <c:pt idx="2">
                  <c:v>2.36</c:v>
                </c:pt>
                <c:pt idx="3">
                  <c:v>0.66</c:v>
                </c:pt>
                <c:pt idx="4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Revenue by Seller Tier (R$M)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34AB7"/>
              </a:solidFill>
              <a:effectLst/>
            </c:spPr>
          </c:dPt>
          <c:dPt>
            <c:idx val="1"/>
            <c:bubble3D val="0"/>
            <c:spPr>
              <a:solidFill>
                <a:srgbClr val="BA7517"/>
              </a:solidFill>
              <a:effectLst/>
            </c:spPr>
          </c:dPt>
          <c:dPt>
            <c:idx val="2"/>
            <c:bubble3D val="0"/>
            <c:spPr>
              <a:solidFill>
                <a:srgbClr val="888780"/>
              </a:solidFill>
              <a:effectLst/>
            </c:spPr>
          </c:dPt>
          <c:dPt>
            <c:idx val="3"/>
            <c:bubble3D val="0"/>
            <c:spPr>
              <a:solidFill>
                <a:srgbClr val="993C1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Platinum</c:v>
                </c:pt>
                <c:pt idx="1">
                  <c:v>Gold</c:v>
                </c:pt>
                <c:pt idx="2">
                  <c:v>Silver</c:v>
                </c:pt>
                <c:pt idx="3">
                  <c:v>Bronze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11.46</c:v>
                </c:pt>
                <c:pt idx="1">
                  <c:v>1.32</c:v>
                </c:pt>
                <c:pt idx="2">
                  <c:v>0.36</c:v>
                </c:pt>
                <c:pt idx="3">
                  <c:v>0.08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43A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1C1E"/>
                </a:solidFill>
                <a:latin typeface="Arial"/>
              </a:rPr>
              <a:t>Delivery Punctuality vs Avg Review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 Score</c:v>
                </c:pt>
              </c:strCache>
            </c:strRef>
          </c:tx>
          <c:spPr>
            <a:solidFill>
              <a:srgbClr val="1C1C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1C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72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9E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44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Early (&gt;10d)</c:v>
                  </c:pt>
                  <c:pt idx="1">
                    <c:v>On Time</c:v>
                  </c:pt>
                  <c:pt idx="2">
                    <c:v>1-5d Late</c:v>
                  </c:pt>
                  <c:pt idx="3">
                    <c:v>6-15d Late</c:v>
                  </c:pt>
                  <c:pt idx="4">
                    <c:v>&gt;15d Late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4.42</c:v>
                </c:pt>
                <c:pt idx="1">
                  <c:v>4.28</c:v>
                </c:pt>
                <c:pt idx="2">
                  <c:v>3.65</c:v>
                </c:pt>
                <c:pt idx="3">
                  <c:v>3.21</c:v>
                </c:pt>
                <c:pt idx="4">
                  <c:v>2.89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C49A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6642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3200400" cy="5486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Customer Segmentation · Seller KPIs · Delivery Impact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1920240" cy="1143000"/>
          </a:xfrm>
          <a:prstGeom prst="rect">
            <a:avLst/>
          </a:prstGeom>
          <a:solidFill>
            <a:srgbClr val="1C1C1E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87752" y="3246120"/>
            <a:ext cx="1920240" cy="1143000"/>
          </a:xfrm>
          <a:prstGeom prst="rect">
            <a:avLst/>
          </a:prstGeom>
          <a:solidFill>
            <a:srgbClr val="1C1C1E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R$13.22M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87752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3246120"/>
            <a:ext cx="1920240" cy="1143000"/>
          </a:xfrm>
          <a:prstGeom prst="rect">
            <a:avLst/>
          </a:prstGeom>
          <a:solidFill>
            <a:srgbClr val="1C1C1E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93,358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64024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0296" y="3246120"/>
            <a:ext cx="1920240" cy="1143000"/>
          </a:xfrm>
          <a:prstGeom prst="rect">
            <a:avLst/>
          </a:prstGeom>
          <a:solidFill>
            <a:srgbClr val="1C1C1E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0296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 |  DA Portfolio Project  |  Dataset: Kaggle — Olist Brazilian E-Commerce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covers and how it was built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8988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faces silent revenue leakage — low retention, geographic concentration, seller quality variance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6771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359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Tech Stack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6517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 real orders across 8 tables — cleaned with Python, analysed with MySQL, modelled in Excel, visualised in Power BI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29584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2958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6210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91363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R$13.22M across 20 months — monthly trends, category breakdown, state concentration, payment behaviour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058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38988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of 93K customers — Champions, Loyal, At Risk, Lost segments with revenue contribution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67712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6771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49240" y="2359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&amp; Delivery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6517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sellers scored by revenue, review score, and delivery delay — tier performance and risk identification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29584"/>
            <a:ext cx="502920" cy="10789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2958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36210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91363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business findings with specific recommendations and quantified opportunity values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silent revenue leaks Olist needed to diagnose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697480" cy="73152"/>
          </a:xfrm>
          <a:prstGeom prst="rect">
            <a:avLst/>
          </a:prstGeom>
          <a:solidFill>
            <a:srgbClr val="C0440E"/>
          </a:solidFill>
          <a:ln w="12700">
            <a:solidFill>
              <a:srgbClr val="C044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965960" cy="36576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2491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customers buy once and never return. Every sale depends entirely on new customer acquisition — no retention engine exists.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05840"/>
            <a:ext cx="2697480" cy="73152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154680" y="21762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2606040"/>
            <a:ext cx="1965960" cy="36576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72491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RJ, and MG alone account for 63.4% of all revenue. A single demand shock in São Paulo would devastate the business.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05840"/>
            <a:ext cx="2697480" cy="7315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035040" y="21762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1965960" cy="36576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72491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of orders arrive late. Orders delayed 5+ days score 1 full point lower in reviews — directly suppressing repeat purchases.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relational tables — full analyst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9933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1993392" cy="50292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Seaborn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19202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EDA · RFM · Charts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783080"/>
            <a:ext cx="164592" cy="54864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7190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960120"/>
            <a:ext cx="19933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960120"/>
            <a:ext cx="1993392" cy="5029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960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23160" y="1508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Queries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19202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fns · CTEs · Cohorts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783080"/>
            <a:ext cx="164592" cy="54864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7190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19933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960120"/>
            <a:ext cx="1993392" cy="50292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960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1508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5-Sheet Workbook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19202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· What-if · Scenarios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1783080"/>
            <a:ext cx="164592" cy="54864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7190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960120"/>
            <a:ext cx="19933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960120"/>
            <a:ext cx="1993392" cy="502920"/>
          </a:xfrm>
          <a:prstGeom prst="rect">
            <a:avLst/>
          </a:prstGeom>
          <a:solidFill>
            <a:srgbClr val="F4C49A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9601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15087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19202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KPIs · Drill-through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" y="2880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8 Real Tables from Olist Brazilian E-Commerce (Kaggle)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3246120"/>
            <a:ext cx="4206240" cy="338328"/>
          </a:xfrm>
          <a:prstGeom prst="rect">
            <a:avLst/>
          </a:prstGeom>
          <a:solidFill>
            <a:srgbClr val="FEF0E3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461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65960" y="32461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80360" y="32461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order lifecycle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648456"/>
            <a:ext cx="4206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64845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6484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 rows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80360" y="3648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pricing per order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4050792"/>
            <a:ext cx="4206240" cy="338328"/>
          </a:xfrm>
          <a:prstGeom prst="rect">
            <a:avLst/>
          </a:prstGeom>
          <a:solidFill>
            <a:srgbClr val="FEF0E3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0507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olist_order_payments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65960" y="405079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 rows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80360" y="405079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+ installments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4453128"/>
            <a:ext cx="4206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531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olist_order_reviews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6596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99,224 rows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80360" y="44531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+ comments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3246120"/>
            <a:ext cx="4206240" cy="338328"/>
          </a:xfrm>
          <a:prstGeom prst="rect">
            <a:avLst/>
          </a:prstGeom>
          <a:solidFill>
            <a:srgbClr val="FEF0E3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246120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32461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32461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state, unique ID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3648456"/>
            <a:ext cx="4206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648456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0" y="364845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 rows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0" y="3648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dimensions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4050792"/>
            <a:ext cx="4206240" cy="338328"/>
          </a:xfrm>
          <a:prstGeom prst="rect">
            <a:avLst/>
          </a:prstGeom>
          <a:solidFill>
            <a:srgbClr val="FEF0E3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05079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olist_sellers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0800" y="405079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rows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15200" y="405079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location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4453128"/>
            <a:ext cx="4206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4531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category_translation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0080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rows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15200" y="44531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→ English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R$13.22M across 20 months — trends, categories, states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1993392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1993392" cy="64008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59536"/>
            <a:ext cx="19933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R$13.22M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359713"/>
            <a:ext cx="19933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1570025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 – Aug 2018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749808"/>
            <a:ext cx="1993392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749808"/>
            <a:ext cx="1993392" cy="64008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859536"/>
            <a:ext cx="19933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1359713"/>
            <a:ext cx="19933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1570025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delivery success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749808"/>
            <a:ext cx="1993392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749808"/>
            <a:ext cx="1993392" cy="64008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859536"/>
            <a:ext cx="19933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R$137.04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359713"/>
            <a:ext cx="19933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1570025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12280" y="749808"/>
            <a:ext cx="1993392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749808"/>
            <a:ext cx="1993392" cy="64008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859536"/>
            <a:ext cx="19933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1359713"/>
            <a:ext cx="19933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Orders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12280" y="1570025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payment method</a:t>
            </a:r>
            <a:endParaRPr lang="en-US" sz="8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28600" y="1920240"/>
          <a:ext cx="5029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Chart 1" descr=""/>
          <p:cNvGraphicFramePr/>
          <p:nvPr/>
        </p:nvGraphicFramePr>
        <p:xfrm>
          <a:off x="5440680" y="1920240"/>
          <a:ext cx="34747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RFM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93,358 customers scored by Recency · Frequency · Monetary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749808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069080" y="749808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8404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3840480"/>
            <a:ext cx="2011680" cy="548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8600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2004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— critical retention gap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450592" y="38404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50592" y="3840480"/>
            <a:ext cx="2011680" cy="54864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50592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7,894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542032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drive R$2.36M — highest ROI for retention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72584" y="38404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72584" y="3840480"/>
            <a:ext cx="2011680" cy="5486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72584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12,434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764024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customers — R$660K winback opportunity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894576" y="38404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94576" y="3840480"/>
            <a:ext cx="2011680" cy="54864"/>
          </a:xfrm>
          <a:prstGeom prst="rect">
            <a:avLst/>
          </a:prstGeom>
          <a:solidFill>
            <a:srgbClr val="F4C49A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94576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38,521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986016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 — biggest growth segment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&amp; Delivery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sellers tiered — delivery impact on customer satisfaction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749808"/>
          <a:ext cx="3474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3886200" y="749808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6576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3657600"/>
            <a:ext cx="2011680" cy="54864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86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2860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50592" y="36576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50592" y="3657600"/>
            <a:ext cx="2011680" cy="548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50592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450592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72584" y="36576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72584" y="3657600"/>
            <a:ext cx="2011680" cy="54864"/>
          </a:xfrm>
          <a:prstGeom prst="rect">
            <a:avLst/>
          </a:prstGeom>
          <a:solidFill>
            <a:srgbClr val="F4C49A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72584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4.16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672584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review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894576" y="36576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0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94576" y="3657600"/>
            <a:ext cx="2011680" cy="54864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94576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−1.39pts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894576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drop: late vs early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findings with quantified business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87552"/>
            <a:ext cx="73152" cy="1207008"/>
          </a:xfrm>
          <a:prstGeom prst="rect">
            <a:avLst/>
          </a:prstGeom>
          <a:solidFill>
            <a:srgbClr val="C0440E"/>
          </a:solidFill>
          <a:ln w="12700">
            <a:solidFill>
              <a:srgbClr val="C044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607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1408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Risk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16824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RJ, MG = 63.4% of revenue. São Paulo alone: R$5.07M. One regional demand shock devastates P&amp;L.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3408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40864"/>
            <a:ext cx="73152" cy="1207008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4140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" y="2761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Retention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" y="3035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customers return. 97% one-time buyers means zero CLV advantage — pure acquisition dependency.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694176"/>
            <a:ext cx="73152" cy="1207008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7673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3192" y="4114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Kills Reviews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" y="4389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On-time: 4.28 avg score. 15d+ late: 2.89 avg score. 1.39-point gap directly suppresses repeat purchase intent.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9875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87552"/>
            <a:ext cx="73152" cy="120700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0607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28032" y="1408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 All Categories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16824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R$1.23M revenue (9.3% share). Top 5 categories = 39.7% of total revenue — strong Pareto concentration.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3408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340864"/>
            <a:ext cx="73152" cy="1207008"/>
          </a:xfrm>
          <a:prstGeom prst="rect">
            <a:avLst/>
          </a:prstGeom>
          <a:solidFill>
            <a:srgbClr val="F4C49A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4140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28032" y="2761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Customers Are Still Reachable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035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(7,894) + Loyal (31,260) + Potential Loyalists (38,521) = 83,675 customers worth targeting now.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unlock the highest-value opportunities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Analysis  |  Tony  |  2016–2018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2743200" cy="621792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2468880" cy="320040"/>
          </a:xfrm>
          <a:prstGeom prst="rect">
            <a:avLst/>
          </a:prstGeom>
          <a:solidFill>
            <a:srgbClr val="FEF0E3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R$660K+ Winback Opportunity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Retention Program — Target Champions First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post-purchase email at 30/60/90 days after first order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loyalty incentives to 7,894 Champions — highest-ROI segment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12,434 At-Risk customers who spent R$300+ historically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lift repeat rate from 3% to 8% within 6 months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72968" y="960120"/>
            <a:ext cx="2743200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960120"/>
            <a:ext cx="2743200" cy="621792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960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10128" y="1508760"/>
            <a:ext cx="2468880" cy="320040"/>
          </a:xfrm>
          <a:prstGeom prst="rect">
            <a:avLst/>
          </a:prstGeom>
          <a:solidFill>
            <a:srgbClr val="FEF0E3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1.39-Point Review 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Logistics — SLA Tracking Per Seller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sellers with &gt;15% late delivery rate immediately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carrier SLA in Northern/Northeast states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realistic delivery estimates to reduce expectation mismatch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late delivery rate from 6.8% to below 3%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17336" y="960120"/>
            <a:ext cx="2743200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960120"/>
            <a:ext cx="2743200" cy="621792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960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54496" y="1508760"/>
            <a:ext cx="2468880" cy="320040"/>
          </a:xfrm>
          <a:prstGeom prst="rect">
            <a:avLst/>
          </a:prstGeom>
          <a:solidFill>
            <a:srgbClr val="FEF0E3"/>
          </a:solidFill>
          <a:ln w="12700">
            <a:solidFill>
              <a:srgbClr val="F4C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Top-3 State Dependency Below 50%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— Target RS, PR, SC States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248716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seller acquisition campaigns in RS, PR, SC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state-specific promotions to stimulate demand outside SP/RJ/MG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seller count in health_beauty + computers_accessories categories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grow revenue share of non-top-3 states from 36% to 50%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22A"/>
          </a:solidFill>
          <a:ln w="12700">
            <a:solidFill>
              <a:srgbClr val="D4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 real orders cleaned, analysed, and visualised across 4 tools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SQL queries: window functions, CTEs, RFM scoring, delivery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5-sheet Excel workbook with what-if revenue scenarios and pivot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Power BI dashboard with DAX measures, slicers, and drill-through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insights with quantified business impact and recommendations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2331720"/>
            <a:ext cx="2651760" cy="457200"/>
          </a:xfrm>
          <a:prstGeom prst="rect">
            <a:avLst/>
          </a:prstGeom>
          <a:solidFill>
            <a:srgbClr val="EE9E64"/>
          </a:solidFill>
          <a:ln w="12700">
            <a:solidFill>
              <a:srgbClr val="EE9E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Seaborn · EDA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2926080"/>
            <a:ext cx="2651760" cy="4572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Analytical Queries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2651760" cy="4572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· Pivot 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2651760" cy="4572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3-Page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Brazilian E-Commerce (Kaggle)  |  github.com/yourusername/olist-ecommerce-business-analysis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Business Performance Analysis</dc:title>
  <dc:subject>PptxGenJS Presentation</dc:subject>
  <dc:creator>Tony</dc:creator>
  <cp:lastModifiedBy>Tony</cp:lastModifiedBy>
  <cp:revision>1</cp:revision>
  <dcterms:created xsi:type="dcterms:W3CDTF">2026-03-17T17:09:27Z</dcterms:created>
  <dcterms:modified xsi:type="dcterms:W3CDTF">2026-03-17T17:09:27Z</dcterms:modified>
</cp:coreProperties>
</file>